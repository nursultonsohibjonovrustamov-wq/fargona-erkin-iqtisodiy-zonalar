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082230"/>
          </a:solidFill>
          <a:alpha val="91000"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"/>
            <a:ext cx="566928" cy="5760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484632"/>
            <a:ext cx="3017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FERGANA İLÇESİ HÜKÜMETİ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832104"/>
            <a:ext cx="35661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CCE7EB"/>
                </a:solidFill>
                <a:latin typeface="Times New Roman"/>
                <a:ea typeface="Times New Roman"/>
                <a:cs typeface="Times New Roman"/>
              </a:rPr>
              <a:t>FERGANA İLÇESİ ÖZEL SANAYİ BÖLGESİ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65376"/>
            <a:ext cx="2057400" cy="301752"/>
          </a:xfrm>
          <a:prstGeom prst="roundRect">
            <a:avLst>
              <a:gd name="adj" fmla="val 12000"/>
            </a:avLst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83664"/>
            <a:ext cx="1911095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YATIRIM GENEL BAKIŞI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59152"/>
            <a:ext cx="480060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FERGANA İLÇESİ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44368"/>
            <a:ext cx="507492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ÖZEL VE KÜÇÜK SANAYİ BÖLGELERİ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858768"/>
            <a:ext cx="914400" cy="54864"/>
          </a:xfrm>
          <a:prstGeom prst="rect">
            <a:avLst/>
          </a:prstGeom>
          <a:solidFill>
            <a:srgbClr val="E8B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096512"/>
            <a:ext cx="49834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ADİL ERİŞİM • HAZIR ARAZİLER • YATIRIMCI ODAKLI ALTYAPI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45936"/>
            <a:ext cx="38404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Fergana İlçesi  •  Özbekistan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8404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01  •  BÖLGE PORTFÖYÜ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8136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FERGANA İLÇESİ ÖZEL VE KÜÇÜK SANAYİ BÖLGELERİ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6984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KONUM VE TOPLAM ALAN GENEL BAKIŞI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730752" cy="4462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3774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TOPLAM BÖLGE ALANI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39696"/>
            <a:ext cx="2834640" cy="7132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395.5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2414016"/>
            <a:ext cx="6858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62656"/>
            <a:ext cx="2834640" cy="13716"/>
          </a:xfrm>
          <a:prstGeom prst="rect">
            <a:avLst/>
          </a:prstGeom>
          <a:solidFill>
            <a:srgbClr val="CF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182112"/>
            <a:ext cx="1389888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182112"/>
            <a:ext cx="91440" cy="960120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91840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511296"/>
            <a:ext cx="10698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OQBİLOL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22191"/>
            <a:ext cx="10698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351 ha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3182112"/>
            <a:ext cx="1389888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31720" y="3182112"/>
            <a:ext cx="91440" cy="960120"/>
          </a:xfrm>
          <a:prstGeom prst="rect">
            <a:avLst/>
          </a:prstGeom>
          <a:solidFill>
            <a:srgbClr val="E8B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6312" y="3291840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E8B235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3511296"/>
            <a:ext cx="10698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VODİL • QIZILQO‘RG‘ON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822191"/>
            <a:ext cx="10698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0" b="1">
                <a:solidFill>
                  <a:srgbClr val="E8B235"/>
                </a:solidFill>
                <a:latin typeface="Times New Roman"/>
                <a:ea typeface="Times New Roman"/>
                <a:cs typeface="Times New Roman"/>
              </a:rPr>
              <a:t>24,4 ha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370832"/>
            <a:ext cx="1389888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370832"/>
            <a:ext cx="91440" cy="960120"/>
          </a:xfrm>
          <a:prstGeom prst="rect">
            <a:avLst/>
          </a:prstGeom>
          <a:solidFill>
            <a:srgbClr val="22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480560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229166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700016"/>
            <a:ext cx="10698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GUZAR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5010912"/>
            <a:ext cx="10698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0" b="1">
                <a:solidFill>
                  <a:srgbClr val="229166"/>
                </a:solidFill>
                <a:latin typeface="Times New Roman"/>
                <a:ea typeface="Times New Roman"/>
                <a:cs typeface="Times New Roman"/>
              </a:rPr>
              <a:t>11,4 ha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31720" y="4370832"/>
            <a:ext cx="1389888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31720" y="4370832"/>
            <a:ext cx="91440" cy="960120"/>
          </a:xfrm>
          <a:prstGeom prst="rect">
            <a:avLst/>
          </a:prstGeom>
          <a:solidFill>
            <a:srgbClr val="076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96312" y="4480560"/>
            <a:ext cx="2743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76E7C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96312" y="4700016"/>
            <a:ext cx="1069848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YANGİ ASR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96312" y="5010912"/>
            <a:ext cx="106984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20" b="1">
                <a:solidFill>
                  <a:srgbClr val="076E7C"/>
                </a:solidFill>
                <a:latin typeface="Times New Roman"/>
                <a:ea typeface="Times New Roman"/>
                <a:cs typeface="Times New Roman"/>
              </a:rPr>
              <a:t>8,7 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41264"/>
            <a:ext cx="28346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Dört saha, genel yatırım portföyünü oluşturmaktadır.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1554480"/>
            <a:ext cx="7077456" cy="4462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00784"/>
            <a:ext cx="6803136" cy="4142232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4846320" y="5577840"/>
            <a:ext cx="2148840" cy="301752"/>
          </a:xfrm>
          <a:prstGeom prst="roundRect">
            <a:avLst>
              <a:gd name="adj" fmla="val 12000"/>
            </a:avLst>
          </a:prstGeom>
          <a:solidFill>
            <a:srgbClr val="0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9472" y="5596127"/>
            <a:ext cx="20025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 E R G A N A   İ L Ç E S 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5577840"/>
            <a:ext cx="2103120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YANGİ ASR  •  8,7 ha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565392"/>
            <a:ext cx="56692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F E R G A N A   İ L Ç E S İ   •   Ö Z B E K İ S T A 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510528"/>
            <a:ext cx="32004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8404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02  •  OQBİLOL  •  ÖZEL SANAYİ BÖLGESİ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8136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OQBİLOL ÖZEL SANAYİ BÖLGESİ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6984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TOPLAM ARAZİ ALANI VE İLÇE REZERV ARAZİSİ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6903720" cy="4443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6647688" cy="4187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" y="5532120"/>
            <a:ext cx="1417320" cy="301752"/>
          </a:xfrm>
          <a:prstGeom prst="roundRect">
            <a:avLst>
              <a:gd name="adj" fmla="val 12000"/>
            </a:avLst>
          </a:prstGeom>
          <a:solidFill>
            <a:srgbClr val="0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550407"/>
            <a:ext cx="127101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SAHA SINIRI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572768"/>
            <a:ext cx="3895344" cy="4443984"/>
          </a:xfrm>
          <a:prstGeom prst="roundRect">
            <a:avLst>
              <a:gd name="adj" fmla="val 12000"/>
            </a:avLst>
          </a:prstGeom>
          <a:solidFill>
            <a:srgbClr val="0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847088"/>
            <a:ext cx="19202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BÖLGE PROFİLİ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231136"/>
            <a:ext cx="2286000" cy="6949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2633472"/>
            <a:ext cx="6858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017520"/>
            <a:ext cx="2999232" cy="13716"/>
          </a:xfrm>
          <a:prstGeom prst="rect">
            <a:avLst/>
          </a:prstGeom>
          <a:solidFill>
            <a:srgbClr val="405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27355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TOPLAM ARAZİ ALANI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368" y="327355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351 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86791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SULANAN ARAZİ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386791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 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46227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DİĞER ARAZİ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8" y="446227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351 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05663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TOPRAK VERİMLİLİK PUANI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05663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513832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İLÇE REZERV ARAZİSİ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65392"/>
            <a:ext cx="56692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F E R G A N A   İ L Ç E S İ   •   Ö Z B E K İ S T A 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10528"/>
            <a:ext cx="32004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8404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03  •  VODİL  •  QIZILQO‘RG‘ON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8136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VODİL • QIZILQO‘RG‘ON ÖZEL SANAYİ BÖLGESİ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6984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PARSEL, ARAZİ TÜRÜ VE TOPRAK PROFİLİ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6903720" cy="4443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6647688" cy="4187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" y="5532120"/>
            <a:ext cx="1417320" cy="301752"/>
          </a:xfrm>
          <a:prstGeom prst="roundRect">
            <a:avLst>
              <a:gd name="adj" fmla="val 12000"/>
            </a:avLst>
          </a:prstGeom>
          <a:solidFill>
            <a:srgbClr val="0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550407"/>
            <a:ext cx="127101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SAHA SINIRI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572768"/>
            <a:ext cx="3895344" cy="4443984"/>
          </a:xfrm>
          <a:prstGeom prst="roundRect">
            <a:avLst>
              <a:gd name="adj" fmla="val 12000"/>
            </a:avLst>
          </a:prstGeom>
          <a:solidFill>
            <a:srgbClr val="0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847088"/>
            <a:ext cx="19202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BÖLGE PROFİLİ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231136"/>
            <a:ext cx="2286000" cy="6949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2633472"/>
            <a:ext cx="6858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017520"/>
            <a:ext cx="2999232" cy="13716"/>
          </a:xfrm>
          <a:prstGeom prst="rect">
            <a:avLst/>
          </a:prstGeom>
          <a:solidFill>
            <a:srgbClr val="405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27355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PARSEL NUMARALARI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368" y="327355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199-200-208-209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86791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SULANAN ARAZİ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386791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14.27 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46227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ÇOK YILLIK AĞAÇ PLANTASYONU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8" y="446227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8.47 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05663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DİĞER ARAZİ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05663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1.54 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65099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TOPRAK VERİMLİLİK PUANI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565099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513832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İLÇE REZERV ARAZİSİ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6565392"/>
            <a:ext cx="56692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F E R G A N A   İ L Ç E S İ   •   Ö Z B E K İ S T A 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10528"/>
            <a:ext cx="32004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8404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04  •  VERGİ VE GÜMRÜK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8136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VERGİ VE GÜMRÜK TEŞVİKLERİ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6984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C0DCE0"/>
                </a:solidFill>
                <a:latin typeface="Times New Roman"/>
                <a:ea typeface="Times New Roman"/>
                <a:cs typeface="Times New Roman"/>
              </a:rPr>
              <a:t>YATIRIM TUTARINA GÖRE TEŞVİK SÜRELERİ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834640" cy="4407408"/>
          </a:xfrm>
          <a:prstGeom prst="roundRect">
            <a:avLst>
              <a:gd name="adj" fmla="val 12000"/>
            </a:avLst>
          </a:prstGeom>
          <a:solidFill>
            <a:srgbClr val="0C3745"/>
          </a:solidFill>
          <a:ln>
            <a:solidFill>
              <a:srgbClr val="2553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20240"/>
            <a:ext cx="2057400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61488"/>
            <a:ext cx="21031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MUAFİYETLER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291840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• İhracata yönelik nihai ürünler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3291840"/>
            <a:ext cx="105156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BBDADF"/>
                </a:solidFill>
                <a:latin typeface="Times New Roman"/>
                <a:ea typeface="Times New Roman"/>
                <a:cs typeface="Times New Roman"/>
              </a:rPr>
              <a:t>İthal edilen hammaddeler ve bileşenler KDV ve gümrük vergilerinden muaftır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050791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• Ekipman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4050791"/>
            <a:ext cx="105156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BBDADF"/>
                </a:solidFill>
                <a:latin typeface="Times New Roman"/>
                <a:ea typeface="Times New Roman"/>
                <a:cs typeface="Times New Roman"/>
              </a:rPr>
              <a:t>Özbekistan'da benzeri yerli üretimi bulunmayan ekipmanlar KDV ve gümrük vergilerinden muaftır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09744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• İnşaat malzemeleri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4809744"/>
            <a:ext cx="105156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BBDADF"/>
                </a:solidFill>
                <a:latin typeface="Times New Roman"/>
                <a:ea typeface="Times New Roman"/>
                <a:cs typeface="Times New Roman"/>
              </a:rPr>
              <a:t>Yurtiçinde üretilmeyen ve mevzuata uygun şekilde ithal edilen inşaat malzemeleri gümrük vergilerinden muaftır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7" y="1572768"/>
            <a:ext cx="3657600" cy="4407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1847088"/>
            <a:ext cx="20116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VERGİ TEŞVİKLERİ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2468880"/>
            <a:ext cx="3035808" cy="475488"/>
          </a:xfrm>
          <a:prstGeom prst="roundRect">
            <a:avLst>
              <a:gd name="adj" fmla="val 12000"/>
            </a:avLst>
          </a:prstGeom>
          <a:solidFill>
            <a:srgbClr val="E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2468880"/>
            <a:ext cx="73152" cy="475488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4528" y="2514600"/>
            <a:ext cx="24688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ARAZİ VERGİSİ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127248"/>
            <a:ext cx="3035808" cy="475488"/>
          </a:xfrm>
          <a:prstGeom prst="roundRect">
            <a:avLst>
              <a:gd name="adj" fmla="val 12000"/>
            </a:avLst>
          </a:prstGeom>
          <a:solidFill>
            <a:srgbClr val="E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77639" y="3127248"/>
            <a:ext cx="73152" cy="475488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4528" y="3172968"/>
            <a:ext cx="24688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EMLAK VERGİSİ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3785615"/>
            <a:ext cx="3035808" cy="475488"/>
          </a:xfrm>
          <a:prstGeom prst="roundRect">
            <a:avLst>
              <a:gd name="adj" fmla="val 12000"/>
            </a:avLst>
          </a:prstGeom>
          <a:solidFill>
            <a:srgbClr val="E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3785615"/>
            <a:ext cx="73152" cy="475488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4528" y="3831335"/>
            <a:ext cx="24688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KÂR VERGİSİ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4443983"/>
            <a:ext cx="3035808" cy="475488"/>
          </a:xfrm>
          <a:prstGeom prst="roundRect">
            <a:avLst>
              <a:gd name="adj" fmla="val 12000"/>
            </a:avLst>
          </a:prstGeom>
          <a:solidFill>
            <a:srgbClr val="E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77639" y="4443983"/>
            <a:ext cx="73152" cy="475488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24528" y="4489703"/>
            <a:ext cx="24688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SU KAYNAKLARI KULLANIM VERGİSİ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5193792"/>
            <a:ext cx="27432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YATIRIM TUTARINA GÖRE TEŞVİK SÜRELERİ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07808" y="1572768"/>
            <a:ext cx="3986784" cy="44074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2127" y="1847088"/>
            <a:ext cx="12344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YATIRIM TUTARI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6416" y="1847088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SÜRE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82127" y="2286000"/>
            <a:ext cx="3310128" cy="603504"/>
          </a:xfrm>
          <a:prstGeom prst="roundRect">
            <a:avLst>
              <a:gd name="adj" fmla="val 12000"/>
            </a:avLst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01583" y="2368296"/>
            <a:ext cx="1901952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0,3–3 milyon USD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2368296"/>
            <a:ext cx="384048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3 YIL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82127" y="2999232"/>
            <a:ext cx="3310128" cy="603504"/>
          </a:xfrm>
          <a:prstGeom prst="roundRect">
            <a:avLst>
              <a:gd name="adj" fmla="val 12000"/>
            </a:avLst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01583" y="3081528"/>
            <a:ext cx="1901952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3–5 milyon USD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2760" y="3081528"/>
            <a:ext cx="384048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5 YIL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82127" y="3712464"/>
            <a:ext cx="3310128" cy="603504"/>
          </a:xfrm>
          <a:prstGeom prst="roundRect">
            <a:avLst>
              <a:gd name="adj" fmla="val 12000"/>
            </a:avLst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01583" y="3794760"/>
            <a:ext cx="1901952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5–10 milyon USD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52760" y="3794760"/>
            <a:ext cx="384048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7 YIL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82127" y="4425696"/>
            <a:ext cx="3310128" cy="603504"/>
          </a:xfrm>
          <a:prstGeom prst="roundRect">
            <a:avLst>
              <a:gd name="adj" fmla="val 12000"/>
            </a:avLst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01583" y="4507992"/>
            <a:ext cx="1901952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10 milyon USD+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4507992"/>
            <a:ext cx="384048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10 YIL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82127" y="5285232"/>
            <a:ext cx="3310128" cy="384048"/>
          </a:xfrm>
          <a:prstGeom prst="roundRect">
            <a:avLst>
              <a:gd name="adj" fmla="val 12000"/>
            </a:avLst>
          </a:prstGeom>
          <a:solidFill>
            <a:srgbClr val="0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28431" y="5340096"/>
            <a:ext cx="30175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Kâr vergisi: yatırım kademesine göre 3 / 5 / 7 yıl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7" y="5760720"/>
            <a:ext cx="32461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15 milyon USD üzerindeki yatırımlar için kâr vergisi teşvik süresi 10 yıldır.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6565392"/>
            <a:ext cx="56692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B4D3D9"/>
                </a:solidFill>
                <a:latin typeface="Times New Roman"/>
                <a:ea typeface="Times New Roman"/>
                <a:cs typeface="Times New Roman"/>
              </a:rPr>
              <a:t>F E R G A N A   İ L Ç E S İ   •   Ö Z B E K İ S T A 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510528"/>
            <a:ext cx="32004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B4D3D9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8404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05  •  GUZAR  •  KÜÇÜK SANAYİ BÖLGESİ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8136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GUZAR KÜÇÜK SANAYİ BÖLGESİ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6984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MİNDON A. RAKHMONALİYEV BÖLGESİ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6903720" cy="4443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6647688" cy="4187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" y="5532120"/>
            <a:ext cx="1417320" cy="301752"/>
          </a:xfrm>
          <a:prstGeom prst="roundRect">
            <a:avLst>
              <a:gd name="adj" fmla="val 12000"/>
            </a:avLst>
          </a:prstGeom>
          <a:solidFill>
            <a:srgbClr val="0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550407"/>
            <a:ext cx="127101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SAHA SINIRI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572768"/>
            <a:ext cx="3895344" cy="4443984"/>
          </a:xfrm>
          <a:prstGeom prst="roundRect">
            <a:avLst>
              <a:gd name="adj" fmla="val 12000"/>
            </a:avLst>
          </a:prstGeom>
          <a:solidFill>
            <a:srgbClr val="0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847088"/>
            <a:ext cx="19202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BÖLGE PROFİLİ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231136"/>
            <a:ext cx="2286000" cy="6949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11.4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2633472"/>
            <a:ext cx="6858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017520"/>
            <a:ext cx="2999232" cy="13716"/>
          </a:xfrm>
          <a:prstGeom prst="rect">
            <a:avLst/>
          </a:prstGeom>
          <a:solidFill>
            <a:srgbClr val="405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27355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İLÇE REZERV ARAZİSİ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368" y="327355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11,4 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86791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SULANAN ARAZİ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386791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10.96 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46227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DİĞER ARAZİ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8" y="446227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0.39 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05663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TOPRAK VERİMLİLİK PUANI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05663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513832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İLÇE REZERV ARAZİSİ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65392"/>
            <a:ext cx="56692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F E R G A N A   İ L Ç E S İ   •   Ö Z B E K İ S T A 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10528"/>
            <a:ext cx="32004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8404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06  •  YANGİ ASR  •  KÜÇÜK SANAYİ BÖLGESİ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8136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YANGİ ASR KÜÇÜK SANAYİ BÖLGESİ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6984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DAMKUL • OQTOM • GÜLİSTAN BÖLGESİ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6903720" cy="4443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6647688" cy="4187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" y="5532120"/>
            <a:ext cx="1417320" cy="301752"/>
          </a:xfrm>
          <a:prstGeom prst="roundRect">
            <a:avLst>
              <a:gd name="adj" fmla="val 12000"/>
            </a:avLst>
          </a:prstGeom>
          <a:solidFill>
            <a:srgbClr val="0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550407"/>
            <a:ext cx="127101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SAHA SINIRI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572768"/>
            <a:ext cx="3895344" cy="4443984"/>
          </a:xfrm>
          <a:prstGeom prst="roundRect">
            <a:avLst>
              <a:gd name="adj" fmla="val 12000"/>
            </a:avLst>
          </a:prstGeom>
          <a:solidFill>
            <a:srgbClr val="0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847088"/>
            <a:ext cx="19202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BÖLGE PROFİLİ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231136"/>
            <a:ext cx="2286000" cy="6949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2633472"/>
            <a:ext cx="6858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017520"/>
            <a:ext cx="2999232" cy="13716"/>
          </a:xfrm>
          <a:prstGeom prst="rect">
            <a:avLst/>
          </a:prstGeom>
          <a:solidFill>
            <a:srgbClr val="405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27355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İLÇE REZERV ARAZİSİ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368" y="327355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8,7 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86791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SULANAN ARAZİ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386791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8.45 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46227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DİĞER ARAZİ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8" y="446227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0.23 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056632"/>
            <a:ext cx="18288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TOPRAK VERİMLİLİK PUANI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5056632"/>
            <a:ext cx="1417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513832"/>
            <a:ext cx="15544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A9C7CD"/>
                </a:solidFill>
                <a:latin typeface="Times New Roman"/>
                <a:ea typeface="Times New Roman"/>
                <a:cs typeface="Times New Roman"/>
              </a:rPr>
              <a:t>İLÇE REZERV ARAZİSİ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65392"/>
            <a:ext cx="56692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F E R G A N A   İ L Ç E S İ   •   Ö Z B E K İ S T A 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10528"/>
            <a:ext cx="32004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8404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08  •  ALTYAPI VE İŞLETME MALİYETLERİ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8136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ALTYAPI VE İŞLETME MALİYETLERİ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6984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ŞEFFAF, ÖNGÖRÜLEBİLİR VE İŞ KURULUMUNA HAZIR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2615184" cy="1847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65376"/>
            <a:ext cx="42062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1883664"/>
            <a:ext cx="159105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ELEKTRİK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40864"/>
            <a:ext cx="2157984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USD 0.10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52928"/>
            <a:ext cx="2066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KWH BAŞINA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664208"/>
            <a:ext cx="2615184" cy="1847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1865376"/>
            <a:ext cx="42062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E8B235"/>
                </a:solidFill>
                <a:latin typeface="Times New Roman"/>
                <a:ea typeface="Times New Roman"/>
                <a:cs typeface="Times New Roman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2504" y="1883664"/>
            <a:ext cx="159105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SU VE ATIK SU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340864"/>
            <a:ext cx="2157984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E8B235"/>
                </a:solidFill>
                <a:latin typeface="Times New Roman"/>
                <a:ea typeface="Times New Roman"/>
                <a:cs typeface="Times New Roman"/>
              </a:rPr>
              <a:t>USD 0.55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852928"/>
            <a:ext cx="2066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M³ BAŞINA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664208"/>
            <a:ext cx="2615184" cy="1847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865376"/>
            <a:ext cx="42062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229166"/>
                </a:solidFill>
                <a:latin typeface="Times New Roman"/>
                <a:ea typeface="Times New Roman"/>
                <a:cs typeface="Times New Roman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1883664"/>
            <a:ext cx="159105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DOĞAL GAZ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340864"/>
            <a:ext cx="2157984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229166"/>
                </a:solidFill>
                <a:latin typeface="Times New Roman"/>
                <a:ea typeface="Times New Roman"/>
                <a:cs typeface="Times New Roman"/>
              </a:rPr>
              <a:t>USD 0.15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852928"/>
            <a:ext cx="2066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M³ BAŞINA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3688" y="1664208"/>
            <a:ext cx="2615184" cy="1847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1865376"/>
            <a:ext cx="420624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76E7C"/>
                </a:solidFill>
                <a:latin typeface="Times New Roman"/>
                <a:ea typeface="Times New Roman"/>
                <a:cs typeface="Times New Roman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0344" y="1883664"/>
            <a:ext cx="159105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ORTALAMA ÜCRET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2340864"/>
            <a:ext cx="2157984" cy="429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076E7C"/>
                </a:solidFill>
                <a:latin typeface="Times New Roman"/>
                <a:ea typeface="Times New Roman"/>
                <a:cs typeface="Times New Roman"/>
              </a:rPr>
              <a:t>USD 400–500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2852928"/>
            <a:ext cx="2066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AYLIK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858768"/>
            <a:ext cx="11018520" cy="1975104"/>
          </a:xfrm>
          <a:prstGeom prst="roundRect">
            <a:avLst>
              <a:gd name="adj" fmla="val 12000"/>
            </a:avLst>
          </a:prstGeom>
          <a:solidFill>
            <a:srgbClr val="0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7824" y="4187952"/>
            <a:ext cx="1600200" cy="301752"/>
          </a:xfrm>
          <a:prstGeom prst="roundRect">
            <a:avLst>
              <a:gd name="adj" fmla="val 12000"/>
            </a:avLst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4206240"/>
            <a:ext cx="145389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SAHA ALTYAPISI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36008"/>
            <a:ext cx="283464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MÜHENDİSLİK VE İLETİŞİM AĞLARI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065776"/>
            <a:ext cx="3840480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C5E2E6"/>
                </a:solidFill>
                <a:latin typeface="Times New Roman"/>
                <a:ea typeface="Times New Roman"/>
                <a:cs typeface="Times New Roman"/>
              </a:rPr>
              <a:t>Her şirketin kullanım noktasına kadar ulaştırılmıştır.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4242816"/>
            <a:ext cx="18288" cy="1261872"/>
          </a:xfrm>
          <a:prstGeom prst="rect">
            <a:avLst/>
          </a:prstGeom>
          <a:solidFill>
            <a:srgbClr val="3C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15584" y="4416552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HIZLI İŞ KURULUMU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5584" y="4846320"/>
            <a:ext cx="448056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Altyapı, işletmelerin hızlı şekilde faaliyete geçmesi ve çalışması için tasarlanmıştır.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389120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97BDC4"/>
                </a:solidFill>
                <a:latin typeface="Times New Roman"/>
                <a:ea typeface="Times New Roman"/>
                <a:cs typeface="Times New Roman"/>
              </a:rPr>
              <a:t>ALTYAPI MALİYETLERİ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828032"/>
            <a:ext cx="25146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HAZIR → FAALİYET → BÜYÜME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6565392"/>
            <a:ext cx="56692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F E R G A N A   İ L Ç E S İ   •   Ö Z B E K İ S T A 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510528"/>
            <a:ext cx="32004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8404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09  •  ARAZİ FİYATI GENEL BAKIŞI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81360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FERGANA İLÇESİ ÖZEL VE KÜÇÜK SANAYİ BÖLGELERİ — ARAZİ FİYATI GENEL BAKIŞI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24712"/>
            <a:ext cx="106984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BÖLGE ALAN DAĞILIMI VE VERİ NOTU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931920" cy="4526280"/>
          </a:xfrm>
          <a:prstGeom prst="roundRect">
            <a:avLst>
              <a:gd name="adj" fmla="val 12000"/>
            </a:avLst>
          </a:prstGeom>
          <a:solidFill>
            <a:srgbClr val="08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92024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A3C9CF"/>
                </a:solidFill>
                <a:latin typeface="Times New Roman"/>
                <a:ea typeface="Times New Roman"/>
                <a:cs typeface="Times New Roman"/>
              </a:rPr>
              <a:t>TOPLAM BÖLGE ALANI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278892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395.5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3824" y="2697480"/>
            <a:ext cx="704088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182112"/>
            <a:ext cx="3090672" cy="13716"/>
          </a:xfrm>
          <a:prstGeom prst="rect">
            <a:avLst/>
          </a:prstGeom>
          <a:solidFill>
            <a:srgbClr val="3F5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56432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ALAN DAĞILIMI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886200"/>
            <a:ext cx="3090672" cy="438912"/>
          </a:xfrm>
          <a:prstGeom prst="roundRect">
            <a:avLst>
              <a:gd name="adj" fmla="val 12000"/>
            </a:avLst>
          </a:prstGeom>
          <a:solidFill>
            <a:srgbClr val="0D3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941063"/>
            <a:ext cx="19659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OQBİLOL ALANI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3931920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351 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407408"/>
            <a:ext cx="3090672" cy="438912"/>
          </a:xfrm>
          <a:prstGeom prst="roundRect">
            <a:avLst>
              <a:gd name="adj" fmla="val 12000"/>
            </a:avLst>
          </a:prstGeom>
          <a:solidFill>
            <a:srgbClr val="0D3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462272"/>
            <a:ext cx="19659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VODİL • QIZILQO‘RG‘ON ALANI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453128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E8B235"/>
                </a:solidFill>
                <a:latin typeface="Times New Roman"/>
                <a:ea typeface="Times New Roman"/>
                <a:cs typeface="Times New Roman"/>
              </a:rPr>
              <a:t>24,4 ha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28616"/>
            <a:ext cx="3090672" cy="438912"/>
          </a:xfrm>
          <a:prstGeom prst="roundRect">
            <a:avLst>
              <a:gd name="adj" fmla="val 12000"/>
            </a:avLst>
          </a:prstGeom>
          <a:solidFill>
            <a:srgbClr val="0D3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983480"/>
            <a:ext cx="19659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GUZAR VATANDAŞLAR MECLİSİ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4974336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229166"/>
                </a:solidFill>
                <a:latin typeface="Times New Roman"/>
                <a:ea typeface="Times New Roman"/>
                <a:cs typeface="Times New Roman"/>
              </a:rPr>
              <a:t>11,4 ha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449824"/>
            <a:ext cx="3090672" cy="438912"/>
          </a:xfrm>
          <a:prstGeom prst="roundRect">
            <a:avLst>
              <a:gd name="adj" fmla="val 12000"/>
            </a:avLst>
          </a:prstGeom>
          <a:solidFill>
            <a:srgbClr val="0D3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504688"/>
            <a:ext cx="196596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YANGİ ASR VATANDAŞLAR MECLİSİ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5495544"/>
            <a:ext cx="7315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076E7C"/>
                </a:solidFill>
                <a:latin typeface="Times New Roman"/>
                <a:ea typeface="Times New Roman"/>
                <a:cs typeface="Times New Roman"/>
              </a:rPr>
              <a:t>8,7 ha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1572768"/>
            <a:ext cx="6839712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F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4064" y="1920240"/>
            <a:ext cx="16002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BÖLGE PORTFÖYÜ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84064" y="2487168"/>
            <a:ext cx="5453384" cy="475488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4064" y="2532888"/>
            <a:ext cx="545338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351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37448" y="2487168"/>
            <a:ext cx="379095" cy="475488"/>
          </a:xfrm>
          <a:prstGeom prst="rect">
            <a:avLst/>
          </a:prstGeom>
          <a:solidFill>
            <a:srgbClr val="E8B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16544" y="2487168"/>
            <a:ext cx="177118" cy="475488"/>
          </a:xfrm>
          <a:prstGeom prst="rect">
            <a:avLst/>
          </a:prstGeom>
          <a:solidFill>
            <a:srgbClr val="22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093662" y="2487168"/>
            <a:ext cx="135169" cy="475488"/>
          </a:xfrm>
          <a:prstGeom prst="rect">
            <a:avLst/>
          </a:prstGeom>
          <a:solidFill>
            <a:srgbClr val="076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84064" y="3310128"/>
            <a:ext cx="82296" cy="347472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0" y="3337560"/>
            <a:ext cx="29992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OQBİLOL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2992" y="3337560"/>
            <a:ext cx="98755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3A9B8"/>
                </a:solidFill>
                <a:latin typeface="Times New Roman"/>
                <a:ea typeface="Times New Roman"/>
                <a:cs typeface="Times New Roman"/>
              </a:rPr>
              <a:t>351 ha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84064" y="3803904"/>
            <a:ext cx="82296" cy="347472"/>
          </a:xfrm>
          <a:prstGeom prst="rect">
            <a:avLst/>
          </a:prstGeom>
          <a:solidFill>
            <a:srgbClr val="E8B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3831336"/>
            <a:ext cx="29992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VODİL • QIZILQO‘RG‘ON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2992" y="3831336"/>
            <a:ext cx="98755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E8B235"/>
                </a:solidFill>
                <a:latin typeface="Times New Roman"/>
                <a:ea typeface="Times New Roman"/>
                <a:cs typeface="Times New Roman"/>
              </a:rPr>
              <a:t>24,4 ha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84064" y="4297680"/>
            <a:ext cx="82296" cy="347472"/>
          </a:xfrm>
          <a:prstGeom prst="rect">
            <a:avLst/>
          </a:prstGeom>
          <a:solidFill>
            <a:srgbClr val="229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0" y="4325112"/>
            <a:ext cx="29992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GUZAR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22992" y="4325112"/>
            <a:ext cx="98755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229166"/>
                </a:solidFill>
                <a:latin typeface="Times New Roman"/>
                <a:ea typeface="Times New Roman"/>
                <a:cs typeface="Times New Roman"/>
              </a:rPr>
              <a:t>11,4 ha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84064" y="4791456"/>
            <a:ext cx="82296" cy="347472"/>
          </a:xfrm>
          <a:prstGeom prst="rect">
            <a:avLst/>
          </a:prstGeom>
          <a:solidFill>
            <a:srgbClr val="076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0" y="4818888"/>
            <a:ext cx="299923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02734"/>
                </a:solidFill>
                <a:latin typeface="Times New Roman"/>
                <a:ea typeface="Times New Roman"/>
                <a:cs typeface="Times New Roman"/>
              </a:rPr>
              <a:t>YANGİ ASR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22992" y="4818888"/>
            <a:ext cx="98755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076E7C"/>
                </a:solidFill>
                <a:latin typeface="Times New Roman"/>
                <a:ea typeface="Times New Roman"/>
                <a:cs typeface="Times New Roman"/>
              </a:rPr>
              <a:t>8,7 ha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84064" y="5349240"/>
            <a:ext cx="6144768" cy="493776"/>
          </a:xfrm>
          <a:prstGeom prst="roundRect">
            <a:avLst>
              <a:gd name="adj" fmla="val 12000"/>
            </a:avLst>
          </a:prstGeom>
          <a:solidFill>
            <a:srgbClr val="E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85232" y="5422392"/>
            <a:ext cx="5715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76E7C"/>
                </a:solidFill>
                <a:latin typeface="Times New Roman"/>
                <a:ea typeface="Times New Roman"/>
                <a:cs typeface="Times New Roman"/>
              </a:rPr>
              <a:t>Not: Kaynak dosyada hektar başına arazi fiyatı belirtilmemiştir; ek bir fiyat bilgisi eklenmemiştir.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84064" y="5833872"/>
            <a:ext cx="60350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Bölge alanlarına ilişkin rakamlar kaynak sunumda belirtildiği şekliyle aynen korunmuştur.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13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6565392"/>
            <a:ext cx="56692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F E R G A N A   İ L Ç E S İ   •   Ö Z B E K İ S T A 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510528"/>
            <a:ext cx="32004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1">
                <a:solidFill>
                  <a:srgbClr val="5B717C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Fergana District Special &amp; Small Industrial Zones — Investment Overview</dc:title>
  <dc:subject>Global modern investor presentation in Chinese</dc:subject>
  <dc:creator>Fergana District Administration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